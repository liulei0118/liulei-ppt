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f3b46f8094ad3" /><Relationship Type="http://schemas.openxmlformats.org/officeDocument/2006/relationships/extended-properties" Target="/docProps/app.xml" Id="R215aac7bf6824a6b" /><Relationship Type="http://schemas.openxmlformats.org/officeDocument/2006/relationships/officeDocument" Target="/ppt/presentation.xml" Id="Re74b14ca8b9d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d3648d01a417c"/>
  </p:sldMasterIdLst>
  <p:notesMasterIdLst>
    <p:notesMasterId xmlns:r="http://schemas.openxmlformats.org/officeDocument/2006/relationships" r:id="Rdad3474f3b6a4b67"/>
  </p:notesMasterIdLst>
  <p:sldIdLst>
    <p:sldId xmlns:r="http://schemas.openxmlformats.org/officeDocument/2006/relationships" id="256" r:id="Rf651a5b31e934820"/>
    <p:sldId xmlns:r="http://schemas.openxmlformats.org/officeDocument/2006/relationships" id="257" r:id="R515e2ac480b04117"/>
    <p:sldId xmlns:r="http://schemas.openxmlformats.org/officeDocument/2006/relationships" id="258" r:id="Rfa000f64c8a04ca3"/>
    <p:sldId xmlns:r="http://schemas.openxmlformats.org/officeDocument/2006/relationships" id="259" r:id="Rcb21185b46354a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ac080c09654117" /><Relationship Type="http://schemas.openxmlformats.org/officeDocument/2006/relationships/slideMaster" Target="/ppt/slideMasters/slideMaster1.xml" Id="Rcf4d3648d01a417c" /><Relationship Type="http://schemas.openxmlformats.org/officeDocument/2006/relationships/notesMaster" Target="/ppt/notesMasters/notesMaster1.xml" Id="Rdad3474f3b6a4b67" /><Relationship Type="http://schemas.openxmlformats.org/officeDocument/2006/relationships/presProps" Target="/ppt/presProps.xml" Id="R02f896518c224b93" /><Relationship Type="http://schemas.openxmlformats.org/officeDocument/2006/relationships/tableStyles" Target="/ppt/tableStyles.xml" Id="Re5bc162aab184e9e" /><Relationship Type="http://schemas.openxmlformats.org/officeDocument/2006/relationships/slide" Target="/ppt/slides/slide1.xml" Id="Rf651a5b31e934820" /><Relationship Type="http://schemas.openxmlformats.org/officeDocument/2006/relationships/slide" Target="/ppt/slides/slide2.xml" Id="R515e2ac480b04117" /><Relationship Type="http://schemas.openxmlformats.org/officeDocument/2006/relationships/slide" Target="/ppt/slides/slide3.xml" Id="Rfa000f64c8a04ca3" /><Relationship Type="http://schemas.openxmlformats.org/officeDocument/2006/relationships/slide" Target="/ppt/slides/slide4.xml" Id="Rcb21185b4635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f07aa6ea74f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02e76ffaff49e0" /><Relationship Type="http://schemas.openxmlformats.org/officeDocument/2006/relationships/notesMaster" Target="/ppt/notesMasters/notesMaster1.xml" Id="Rb5312b747b854e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5e02dc044d4842" /><Relationship Type="http://schemas.openxmlformats.org/officeDocument/2006/relationships/notesMaster" Target="/ppt/notesMasters/notesMaster1.xml" Id="R2edd9532ee2a40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cfca56aed43d4" /><Relationship Type="http://schemas.openxmlformats.org/officeDocument/2006/relationships/notesMaster" Target="/ppt/notesMasters/notesMaster1.xml" Id="R3f32d5f3aa34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e623fea2754e62" /><Relationship Type="http://schemas.openxmlformats.org/officeDocument/2006/relationships/notesMaster" Target="/ppt/notesMasters/notesMaster1.xml" Id="R21dd75a8e5a0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8e6f2e74e42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3def72c3554c2e" /><Relationship Type="http://schemas.openxmlformats.org/officeDocument/2006/relationships/slideLayout" Target="/ppt/slideLayouts/slideLayout1.xml" Id="Recc39f65e339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39f65e339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d8dd0185140da" /><Relationship Type="http://schemas.openxmlformats.org/officeDocument/2006/relationships/image" Target="/ppt/media/image.png" Id="R6a96b82889a847c4" /><Relationship Type="http://schemas.openxmlformats.org/officeDocument/2006/relationships/notesSlide" Target="/ppt/notesSlides/notesSlide1.xml" Id="Rb37a64cdaae540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5aa9810bc45ef" /><Relationship Type="http://schemas.openxmlformats.org/officeDocument/2006/relationships/image" Target="/ppt/media/image2.png" Id="R0ae77634b8b74d31" /><Relationship Type="http://schemas.openxmlformats.org/officeDocument/2006/relationships/notesSlide" Target="/ppt/notesSlides/notesSlide2.xml" Id="Ree7b18cd6a2743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05f7abffc4743" /><Relationship Type="http://schemas.openxmlformats.org/officeDocument/2006/relationships/image" Target="/ppt/media/image3.png" Id="Rde15c886112a42b3" /><Relationship Type="http://schemas.openxmlformats.org/officeDocument/2006/relationships/chart" Target="/ppt/slides/charts/chart1.xml" Id="R810ed5e8a7704436" /><Relationship Type="http://schemas.openxmlformats.org/officeDocument/2006/relationships/notesSlide" Target="/ppt/notesSlides/notesSlide3.xml" Id="Rced6d2217341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af5405319455c" /><Relationship Type="http://schemas.openxmlformats.org/officeDocument/2006/relationships/image" Target="/ppt/media/image4.png" Id="Rda6fcb7e7eb94249" /><Relationship Type="http://schemas.openxmlformats.org/officeDocument/2006/relationships/image" Target="/ppt/media/image5.png" Id="R5896653cfc954f0a" /><Relationship Type="http://schemas.openxmlformats.org/officeDocument/2006/relationships/image" Target="/ppt/media/image6.png" Id="Ra5008e14c2b54e38" /><Relationship Type="http://schemas.openxmlformats.org/officeDocument/2006/relationships/notesSlide" Target="/ppt/notesSlides/notesSlide4.xml" Id="Rcea67ee8449e4b7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成熟度</c:v>
          </c:tx>
          <c:spPr>
            <a:solidFill xmlns:a="http://schemas.openxmlformats.org/drawingml/2006/main">
              <a:srgbClr val="31E4DD"/>
            </a:solidFill>
            <a:ln xmlns:a="http://schemas.openxmlformats.org/drawingml/2006/main" w="38100">
              <a:solidFill>
                <a:srgbClr val="31E4DD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识别</c:v>
              </c:pt>
              <c:pt idx="1">
                <c:v>建模</c:v>
              </c:pt>
              <c:pt idx="2">
                <c:v>决策</c:v>
              </c:pt>
              <c:pt idx="3">
                <c:v>执行</c:v>
              </c:pt>
            </c:strLit>
          </c:cat>
          <c:val>
            <c:numLit>
              <c:formatCode>General</c:formatCode>
              <c:ptCount val="4"/>
              <c:pt idx="0">
                <c:v>32</c:v>
              </c:pt>
              <c:pt idx="1">
                <c:v>55</c:v>
              </c:pt>
              <c:pt idx="2">
                <c:v>76</c:v>
              </c:pt>
              <c:pt idx="3">
                <c:v>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4F7F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323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2B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323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2B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D0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90D0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b82889a847c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C8020-0FA5-4EFB-9C5C-5897682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E05C8-6D0B-4E45-97C3-ECCB154C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1E4DD"/>
                </a:solidFill>
              </a:defRPr>
            </a:pPr>
            <a:r>
              <a:rPr sz="825" b="1">
                <a:solidFill>
                  <a:srgbClr val="31E4DD"/>
                </a:solidFill>
              </a:rPr>
              <a:t>TECH DARK / 01+05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54B20A8-5DA4-4411-A765-AD2DDB15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5100" b="1">
                <a:solidFill>
                  <a:srgbClr val="F4F7F5"/>
                </a:solidFill>
              </a:defRPr>
            </a:pPr>
            <a:r>
              <a:rPr sz="5100" b="1">
                <a:solidFill>
                  <a:srgbClr val="F4F7F5"/>
                </a:solidFill>
              </a:rPr>
              <a:t>AUTONOMOUS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5100" b="1">
                <a:solidFill>
                  <a:srgbClr val="F4F7F5"/>
                </a:solidFill>
              </a:defRPr>
            </a:pPr>
            <a:r>
              <a:rPr sz="5100" b="1">
                <a:solidFill>
                  <a:srgbClr val="F4F7F5"/>
                </a:solidFill>
              </a:rPr>
              <a:t>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37E7-4B18-4EA7-B74C-D9CBE28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4F7F5"/>
                </a:solidFill>
              </a:defRPr>
            </a:pPr>
            <a:r>
              <a:rPr sz="1800" b="1">
                <a:solidFill>
                  <a:srgbClr val="F4F7F5"/>
                </a:solidFill>
              </a:rPr>
              <a:t>让机器在无光环境中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4F7F5"/>
                </a:solidFill>
              </a:defRPr>
            </a:pPr>
            <a:r>
              <a:rPr sz="1800" b="1">
                <a:solidFill>
                  <a:srgbClr val="F4F7F5"/>
                </a:solidFill>
              </a:rPr>
              <a:t>完成感知、判断与行动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40D90-664B-443A-AE38-AB6CD7BA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A8B2B2"/>
                </a:solidFill>
              </a:defRPr>
            </a:pPr>
            <a:r>
              <a:rPr sz="750" b="0">
                <a:solidFill>
                  <a:srgbClr val="A8B2B2"/>
                </a:solidFill>
              </a:rPr>
              <a:t>CINEMATIC BLACK × DEEP-OCEAN ROBOTICS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648EE-04BB-4740-BB5A-AEA7CCA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53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F4F7F5"/>
                </a:solidFill>
              </a:defRPr>
            </a:pPr>
            <a:r>
              <a:rPr sz="825" b="1">
                <a:solidFill>
                  <a:srgbClr val="F4F7F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786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77634b8b74d31"/>
          <a:srcRect xmlns:a="http://schemas.openxmlformats.org/drawingml/2006/main" l="16779" t="0" r="167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F1E55-64C9-4030-89CE-E919EE7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77BA-2A66-4C3B-B101-775E8448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F7F5"/>
                </a:solidFill>
              </a:defRPr>
            </a:pPr>
            <a:r>
              <a:rPr sz="675" b="1">
                <a:solidFill>
                  <a:srgbClr val="F4F7F5"/>
                </a:solidFill>
              </a:rPr>
              <a:t>LIULEI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E48D5-7888-4027-A8FE-958BC716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A8B2B2"/>
                </a:solidFill>
              </a:defRPr>
            </a:pPr>
            <a:r>
              <a:rPr sz="675" b="0">
                <a:solidFill>
                  <a:srgbClr val="A8B2B2"/>
                </a:solidFill>
              </a:rPr>
              <a:t>PERCEPTION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93DBD-53DB-4FAC-9E57-594BF5AB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A8B2B2"/>
                </a:solidFill>
              </a:defRPr>
            </a:pPr>
            <a:r>
              <a:rPr sz="675" b="1">
                <a:solidFill>
                  <a:srgbClr val="A8B2B2"/>
                </a:solidFill>
              </a:rPr>
              <a:t>02</a:t>
            </a:r>
          </a:p>
        </p:txBody>
      </p:sp>
      <p:sp>
        <p:nvSpPr>
          <p:cNvPr id="6" name="perception-title">
            <a:extLst xmlns:a="http://schemas.openxmlformats.org/drawingml/2006/main">
              <a:ext uri="{FF2B5EF4-FFF2-40B4-BE49-F238E27FC236}">
                <a16:creationId xmlns:a16="http://schemas.microsoft.com/office/drawing/2014/main" id="{6D11040C-8B61-4EE8-A7BE-F8296E0E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>
                <a:solidFill>
                  <a:srgbClr val="F4F7F5"/>
                </a:solidFill>
              </a:defRPr>
            </a:pPr>
            <a:r>
              <a:rPr sz="3000" b="1">
                <a:solidFill>
                  <a:srgbClr val="F4F7F5"/>
                </a:solidFill>
              </a:rPr>
              <a:t>感知不是看见，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000" b="1">
                <a:solidFill>
                  <a:srgbClr val="F4F7F5"/>
                </a:solidFill>
              </a:defRPr>
            </a:pPr>
            <a:r>
              <a:rPr sz="3000" b="1">
                <a:solidFill>
                  <a:srgbClr val="F4F7F5"/>
                </a:solidFill>
              </a:rPr>
              <a:t>而是建立可行动的环境模型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7DBE1-75C2-47FA-BD52-B591B56C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11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8B2B2"/>
                </a:solidFill>
              </a:defRPr>
            </a:pPr>
            <a:r>
              <a:rPr sz="1275" b="0">
                <a:solidFill>
                  <a:srgbClr val="A8B2B2"/>
                </a:solidFill>
              </a:rPr>
              <a:t>自主系统把声呐回波、空间关系和风险信号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A8B2B2"/>
                </a:solidFill>
              </a:defRPr>
            </a:pPr>
            <a:r>
              <a:rPr sz="1275" b="0">
                <a:solidFill>
                  <a:srgbClr val="A8B2B2"/>
                </a:solidFill>
              </a:rPr>
              <a:t>压缩为下一步能够执行的判断。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39DC8-DDE7-4383-8CB4-384A18C6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75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DF373-784C-4A46-A292-546A761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C4574-B3C5-4A94-BB5E-62A558E3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4F7F5"/>
                </a:solidFill>
              </a:defRPr>
            </a:pPr>
            <a:r>
              <a:rPr sz="1500" b="1">
                <a:solidFill>
                  <a:srgbClr val="F4F7F5"/>
                </a:solidFill>
              </a:rPr>
              <a:t>扫描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7B67-98DB-4466-AF75-CF6D68D3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81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捕捉环境变化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294C6-FC95-47E4-B5F0-C8CDFC9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6785B-F97B-449E-B271-538839B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4F7F5"/>
                </a:solidFill>
              </a:defRPr>
            </a:pPr>
            <a:r>
              <a:rPr sz="1500" b="1">
                <a:solidFill>
                  <a:srgbClr val="F4F7F5"/>
                </a:solidFill>
              </a:rPr>
              <a:t>建模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F7810-4533-428A-A153-A2EDAE2A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67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生成空间关系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B6EDF-9C1E-45D7-A7D5-4FC1EBB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CE405-8612-424D-BF15-A0AD011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4F7F5"/>
                </a:solidFill>
              </a:defRPr>
            </a:pPr>
            <a:r>
              <a:rPr sz="1500" b="1">
                <a:solidFill>
                  <a:srgbClr val="F4F7F5"/>
                </a:solidFill>
              </a:rPr>
              <a:t>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ECF85-B712-4689-9A20-A8FCF29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53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选择安全动作</a:t>
            </a:r>
          </a:p>
        </p:txBody>
      </p:sp>
    </p:spTree>
    <p:extLst>
      <p:ext uri="{BB962C8B-B14F-4D97-AF65-F5344CB8AC3E}">
        <p14:creationId xmlns:p14="http://schemas.microsoft.com/office/powerpoint/2010/main" val="1436867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CFB82-2F91-49DC-A04F-A4E7FD27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F7F5"/>
                </a:solidFill>
              </a:defRPr>
            </a:pPr>
            <a:r>
              <a:rPr sz="675" b="1">
                <a:solidFill>
                  <a:srgbClr val="F4F7F5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833C-AD72-495C-B62F-2BEB8DF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A8B2B2"/>
                </a:solidFill>
              </a:defRPr>
            </a:pPr>
            <a:r>
              <a:rPr sz="675" b="0">
                <a:solidFill>
                  <a:srgbClr val="A8B2B2"/>
                </a:solidFill>
              </a:rPr>
              <a:t>SIGNAL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F917-0AFB-41FD-A8CA-7CFAF327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A8B2B2"/>
                </a:solidFill>
              </a:defRPr>
            </a:pPr>
            <a:r>
              <a:rPr sz="675" b="1">
                <a:solidFill>
                  <a:srgbClr val="A8B2B2"/>
                </a:solidFill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5c886112a42b3"/>
          <a:stretch xmlns:a="http://schemas.openxmlformats.org/drawingml/2006/main"/>
        </p:blipFill>
        <p:spPr>
          <a:xfrm xmlns:a="http://schemas.openxmlformats.org/drawingml/2006/main">
            <a:off x="533400" y="886950"/>
            <a:ext cx="1257300" cy="1293150"/>
          </a:xfrm>
          <a:prstGeom xmlns:a="http://schemas.openxmlformats.org/drawingml/2006/main" prst="rect">
            <a:avLst/>
          </a:prstGeom>
        </p:spPr>
      </p:pic>
      <p:sp>
        <p:nvSpPr>
          <p:cNvPr id="5" name="signal-title">
            <a:extLst xmlns:a="http://schemas.openxmlformats.org/drawingml/2006/main">
              <a:ext uri="{FF2B5EF4-FFF2-40B4-BE49-F238E27FC236}">
                <a16:creationId xmlns:a16="http://schemas.microsoft.com/office/drawing/2014/main" id="{CE6A2BA7-E8BE-44D5-965A-B2E8D21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4F7F5"/>
                </a:solidFill>
              </a:defRPr>
            </a:pPr>
            <a:r>
              <a:rPr sz="3150" b="1">
                <a:solidFill>
                  <a:srgbClr val="F4F7F5"/>
                </a:solidFill>
              </a:rPr>
              <a:t>每一次扫描，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1">
                <a:solidFill>
                  <a:srgbClr val="F4F7F5"/>
                </a:solidFill>
              </a:defRPr>
            </a:pPr>
            <a:r>
              <a:rPr sz="3150" b="1">
                <a:solidFill>
                  <a:srgbClr val="F4F7F5"/>
                </a:solidFill>
              </a:rPr>
              <a:t>都在缩短决策延迟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53D2F-1766-45F5-99FB-819FB91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417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B2B2"/>
                </a:solidFill>
              </a:defRPr>
            </a:pPr>
            <a:r>
              <a:rPr sz="1200" b="0">
                <a:solidFill>
                  <a:srgbClr val="A8B2B2"/>
                </a:solidFill>
              </a:rPr>
              <a:t>系统成熟度来自四个连续环节，而不是单一算法指标。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FFC4A-6B65-4AB0-87CC-C6E80A81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5"/>
                </a:solidFill>
              </a:defRPr>
            </a:pPr>
            <a:r>
              <a:rPr sz="2550" b="1">
                <a:solidFill>
                  <a:srgbClr val="F4F7F5"/>
                </a:solidFill>
              </a:rPr>
              <a:t>18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5916E-7674-48E2-8173-ECC47C5F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8B2B2"/>
                </a:solidFill>
              </a:defRPr>
            </a:pPr>
            <a:r>
              <a:rPr sz="900" b="0">
                <a:solidFill>
                  <a:srgbClr val="A8B2B2"/>
                </a:solidFill>
              </a:rPr>
              <a:t>回波采样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3709-3B81-45F3-8A59-6AF085E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96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31E4DD"/>
                </a:solidFill>
              </a:defRPr>
            </a:pPr>
            <a:r>
              <a:rPr sz="2550" b="1">
                <a:solidFill>
                  <a:srgbClr val="31E4DD"/>
                </a:solidFill>
              </a:rPr>
              <a:t>91%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53E19-9787-4775-8730-9098ADF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8B2B2"/>
                </a:solidFill>
              </a:defRPr>
            </a:pPr>
            <a:r>
              <a:rPr sz="900" b="0">
                <a:solidFill>
                  <a:srgbClr val="A8B2B2"/>
                </a:solidFill>
              </a:rPr>
              <a:t>闭环完成度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E4913-6779-41B2-90EF-865C522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76300"/>
            <a:ext cx="9525" cy="499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AC0F2-68DC-41A0-8678-BAA5979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09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4F7F5"/>
                </a:solidFill>
              </a:defRPr>
            </a:pPr>
            <a:r>
              <a:rPr sz="1800" b="1">
                <a:solidFill>
                  <a:srgbClr val="F4F7F5"/>
                </a:solidFill>
              </a:rPr>
              <a:t>任务闭环成熟度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D2CE1-75CA-47C0-BDE6-3DA50B4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0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A8B2B2"/>
                </a:solidFill>
              </a:defRPr>
            </a:pPr>
            <a:r>
              <a:rPr sz="900" b="0">
                <a:solidFill>
                  <a:srgbClr val="A8B2B2"/>
                </a:solidFill>
              </a:rPr>
              <a:t>识别 → 建模 → 决策 → 执行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72150" y="1962150"/>
          <a:ext xmlns:a="http://schemas.openxmlformats.org/drawingml/2006/main" cx="55626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0ed5e8a7704436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4EB3B-45CE-48B5-9B7D-75BFE69C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102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A8B2B2"/>
                </a:solidFill>
              </a:defRPr>
            </a:pPr>
            <a:r>
              <a:rPr sz="750" b="0">
                <a:solidFill>
                  <a:srgbClr val="A8B2B2"/>
                </a:solidFill>
              </a:rPr>
              <a:t>示意数据，仅用于展示视觉与图表样式。</a:t>
            </a:r>
          </a:p>
        </p:txBody>
      </p:sp>
    </p:spTree>
    <p:extLst>
      <p:ext uri="{BB962C8B-B14F-4D97-AF65-F5344CB8AC3E}">
        <p14:creationId xmlns:p14="http://schemas.microsoft.com/office/powerpoint/2010/main" val="1583199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7EEB9-02E8-4CBD-8A97-9A23652F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F7F5"/>
                </a:solidFill>
              </a:defRPr>
            </a:pPr>
            <a:r>
              <a:rPr sz="675" b="1">
                <a:solidFill>
                  <a:srgbClr val="F4F7F5"/>
                </a:solidFill>
              </a:rPr>
              <a:t>LIULEI PPT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DCC1B-B111-4745-94FA-74F88497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A8B2B2"/>
                </a:solidFill>
              </a:defRPr>
            </a:pPr>
            <a:r>
              <a:rPr sz="675" b="0">
                <a:solidFill>
                  <a:srgbClr val="A8B2B2"/>
                </a:solidFill>
              </a:rPr>
              <a:t>AUTONOMY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4D3C9-3A81-468D-AE87-C9FE468F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A8B2B2"/>
                </a:solidFill>
              </a:defRPr>
            </a:pPr>
            <a:r>
              <a:rPr sz="675" b="1">
                <a:solidFill>
                  <a:srgbClr val="A8B2B2"/>
                </a:solidFill>
              </a:rPr>
              <a:t>04</a:t>
            </a:r>
          </a:p>
        </p:txBody>
      </p:sp>
      <p:sp>
        <p:nvSpPr>
          <p:cNvPr id="4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96E9E868-5E16-4286-B381-AF0DEAFD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561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5"/>
                </a:solidFill>
              </a:defRPr>
            </a:pPr>
            <a:r>
              <a:rPr sz="3750" b="1">
                <a:solidFill>
                  <a:srgbClr val="F4F7F5"/>
                </a:solidFill>
              </a:rPr>
              <a:t>从单次任务，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F4F7F5"/>
                </a:solidFill>
              </a:defRPr>
            </a:pPr>
            <a:r>
              <a:rPr sz="3750" b="1">
                <a:solidFill>
                  <a:srgbClr val="F4F7F5"/>
                </a:solidFill>
              </a:rPr>
              <a:t>走向持续自主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2C2E1-D5C0-4AE9-B040-2DFB073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239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A8B2B2"/>
                </a:solidFill>
              </a:defRPr>
            </a:pPr>
            <a:r>
              <a:rPr sz="1350" b="0">
                <a:solidFill>
                  <a:srgbClr val="A8B2B2"/>
                </a:solidFill>
              </a:rPr>
              <a:t>真正的技术价值，不是展示复杂度，而是让每一次行动都更可靠。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4DC2C-942C-4B9A-BA7F-D445D316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2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fcb7e7eb94249"/>
          <a:stretch xmlns:a="http://schemas.openxmlformats.org/drawingml/2006/main"/>
        </p:blipFill>
        <p:spPr>
          <a:xfrm xmlns:a="http://schemas.openxmlformats.org/drawingml/2006/main">
            <a:off x="666750" y="3023231"/>
            <a:ext cx="1123950" cy="105918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22799-BD98-4CBD-9D37-2A63477D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D96E1-632D-4DDC-9D4A-A81DC518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4F7F5"/>
                </a:solidFill>
              </a:defRPr>
            </a:pPr>
            <a:r>
              <a:rPr sz="1650" b="1">
                <a:solidFill>
                  <a:srgbClr val="F4F7F5"/>
                </a:solidFill>
              </a:rPr>
              <a:t>感知进入现场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489A2-F5E2-4288-BFBD-B6558CF3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建立稳定的环境输入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6653cfc954f0a"/>
          <a:stretch xmlns:a="http://schemas.openxmlformats.org/drawingml/2006/main"/>
        </p:blipFill>
        <p:spPr>
          <a:xfrm xmlns:a="http://schemas.openxmlformats.org/drawingml/2006/main">
            <a:off x="4476750" y="3040856"/>
            <a:ext cx="1123950" cy="102393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D3BF6-8CF0-402C-AB5C-034417B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C1409-C8AC-44CB-93FD-226D9EDE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4F7F5"/>
                </a:solidFill>
              </a:defRPr>
            </a:pPr>
            <a:r>
              <a:rPr sz="1650" b="1">
                <a:solidFill>
                  <a:srgbClr val="F4F7F5"/>
                </a:solidFill>
              </a:rPr>
              <a:t>判断形成闭环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2A3D4-7345-4218-8F45-2162A32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让模型持续修正行动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08e14c2b54e38"/>
          <a:stretch xmlns:a="http://schemas.openxmlformats.org/drawingml/2006/main"/>
        </p:blipFill>
        <p:spPr>
          <a:xfrm xmlns:a="http://schemas.openxmlformats.org/drawingml/2006/main">
            <a:off x="8339955" y="2990850"/>
            <a:ext cx="1017541" cy="11239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2FAC1-D555-4DE3-935F-BB85ECD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31E4DD"/>
                </a:solidFill>
              </a:defRPr>
            </a:pPr>
            <a:r>
              <a:rPr sz="750" b="1">
                <a:solidFill>
                  <a:srgbClr val="31E4DD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1013F-5C5C-4D35-B0F7-693812ED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1">
                <a:solidFill>
                  <a:srgbClr val="F4F7F5"/>
                </a:solidFill>
              </a:defRPr>
            </a:pPr>
            <a:r>
              <a:rPr sz="1650" b="1">
                <a:solidFill>
                  <a:srgbClr val="F4F7F5"/>
                </a:solidFill>
              </a:rPr>
              <a:t>可靠性成为系统能力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65D36-F802-4616-903F-5F455E6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8B2B2"/>
                </a:solidFill>
              </a:defRPr>
            </a:pPr>
            <a:r>
              <a:rPr sz="975" b="0">
                <a:solidFill>
                  <a:srgbClr val="A8B2B2"/>
                </a:solidFill>
              </a:rPr>
              <a:t>用验证约束每一次决策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3D8E0-46C5-49E1-98C8-4154378F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E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FE27E-923B-45D8-9A72-8280F17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4F7F5"/>
                </a:solidFill>
              </a:defRPr>
            </a:pPr>
            <a:r>
              <a:rPr sz="1800" b="1">
                <a:solidFill>
                  <a:srgbClr val="F4F7F5"/>
                </a:solidFill>
              </a:rPr>
              <a:t>THE SYSTEM LEARNS. THE MISSION CONTINUES.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1BD69-F0DA-4963-94BF-5A1C152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531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31E4DD"/>
                </a:solidFill>
              </a:defRPr>
            </a:pPr>
            <a:r>
              <a:rPr sz="825" b="1">
                <a:solidFill>
                  <a:srgbClr val="31E4DD"/>
                </a:solidFill>
              </a:rPr>
              <a:t>NEXT: VERIFY IN THE FIELD</a:t>
            </a:r>
          </a:p>
        </p:txBody>
      </p:sp>
    </p:spTree>
    <p:extLst>
      <p:ext uri="{BB962C8B-B14F-4D97-AF65-F5344CB8AC3E}">
        <p14:creationId xmlns:p14="http://schemas.microsoft.com/office/powerpoint/2010/main" val="1142882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2026-07-23T16:01:57.5470000Z</dcterms:created>
  <dcterms:modified xsi:type="dcterms:W3CDTF">2026-07-23T16:01:57.5470000Z</dcterms:modified>
</coreProperties>
</file>