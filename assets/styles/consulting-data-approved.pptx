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1027d6cf324d5a" /><Relationship Type="http://schemas.openxmlformats.org/officeDocument/2006/relationships/extended-properties" Target="/docProps/app.xml" Id="Rbcf7e30c09a444c4" /><Relationship Type="http://schemas.openxmlformats.org/officeDocument/2006/relationships/officeDocument" Target="/ppt/presentation.xml" Id="Rb1662f841b9045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2bef3376cb4ec5"/>
  </p:sldMasterIdLst>
  <p:notesMasterIdLst>
    <p:notesMasterId xmlns:r="http://schemas.openxmlformats.org/officeDocument/2006/relationships" r:id="Rb24a918e58354565"/>
  </p:notesMasterIdLst>
  <p:sldIdLst>
    <p:sldId xmlns:r="http://schemas.openxmlformats.org/officeDocument/2006/relationships" id="256" r:id="Rc363454b0dc84f46"/>
    <p:sldId xmlns:r="http://schemas.openxmlformats.org/officeDocument/2006/relationships" id="257" r:id="Rd224d7d732a04d25"/>
    <p:sldId xmlns:r="http://schemas.openxmlformats.org/officeDocument/2006/relationships" id="258" r:id="Rf31660007b3243bc"/>
    <p:sldId xmlns:r="http://schemas.openxmlformats.org/officeDocument/2006/relationships" id="259" r:id="Rd3c514fb4c494c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819ab86b3445cf" /><Relationship Type="http://schemas.openxmlformats.org/officeDocument/2006/relationships/slideMaster" Target="/ppt/slideMasters/slideMaster1.xml" Id="Rf32bef3376cb4ec5" /><Relationship Type="http://schemas.openxmlformats.org/officeDocument/2006/relationships/notesMaster" Target="/ppt/notesMasters/notesMaster1.xml" Id="Rb24a918e58354565" /><Relationship Type="http://schemas.openxmlformats.org/officeDocument/2006/relationships/presProps" Target="/ppt/presProps.xml" Id="R6061bb91a6a74496" /><Relationship Type="http://schemas.openxmlformats.org/officeDocument/2006/relationships/tableStyles" Target="/ppt/tableStyles.xml" Id="R7fee7c3061fc482b" /><Relationship Type="http://schemas.openxmlformats.org/officeDocument/2006/relationships/slide" Target="/ppt/slides/slide1.xml" Id="Rc363454b0dc84f46" /><Relationship Type="http://schemas.openxmlformats.org/officeDocument/2006/relationships/slide" Target="/ppt/slides/slide2.xml" Id="Rd224d7d732a04d25" /><Relationship Type="http://schemas.openxmlformats.org/officeDocument/2006/relationships/slide" Target="/ppt/slides/slide3.xml" Id="Rf31660007b3243bc" /><Relationship Type="http://schemas.openxmlformats.org/officeDocument/2006/relationships/slide" Target="/ppt/slides/slide4.xml" Id="Rd3c514fb4c494c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a16d091cbd4a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0ebd2e03284dd4" /><Relationship Type="http://schemas.openxmlformats.org/officeDocument/2006/relationships/notesMaster" Target="/ppt/notesMasters/notesMaster1.xml" Id="R12f4bc83ba8045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a80ea21364470b" /><Relationship Type="http://schemas.openxmlformats.org/officeDocument/2006/relationships/notesMaster" Target="/ppt/notesMasters/notesMaster1.xml" Id="R6e06b796f45745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bdc52ac1ee47f4" /><Relationship Type="http://schemas.openxmlformats.org/officeDocument/2006/relationships/notesMaster" Target="/ppt/notesMasters/notesMaster1.xml" Id="R0226bc8cb4094b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15aa255d8349d0" /><Relationship Type="http://schemas.openxmlformats.org/officeDocument/2006/relationships/notesMaster" Target="/ppt/notesMasters/notesMaster1.xml" Id="R3476da1f94d34a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30a716e204c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09df91b2474fae" /><Relationship Type="http://schemas.openxmlformats.org/officeDocument/2006/relationships/slideLayout" Target="/ppt/slideLayouts/slideLayout1.xml" Id="R390876ed021f44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0876ed021f44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4cedfa2fa43d9" /><Relationship Type="http://schemas.openxmlformats.org/officeDocument/2006/relationships/image" Target="/ppt/media/image.jpeg" Id="R9a418c4f01d041cb" /><Relationship Type="http://schemas.openxmlformats.org/officeDocument/2006/relationships/notesSlide" Target="/ppt/notesSlides/notesSlide1.xml" Id="R65df80112b8045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edf8348eb40c8" /><Relationship Type="http://schemas.openxmlformats.org/officeDocument/2006/relationships/notesSlide" Target="/ppt/notesSlides/notesSlide2.xml" Id="R6c786541cbe64e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f9f5fb235421f" /><Relationship Type="http://schemas.openxmlformats.org/officeDocument/2006/relationships/chart" Target="/ppt/slides/charts/chart1.xml" Id="Rb613ae5964984a84" /><Relationship Type="http://schemas.openxmlformats.org/officeDocument/2006/relationships/notesSlide" Target="/ppt/notesSlides/notesSlide3.xml" Id="R39e17b8bea704e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240c06c9f4a71" /><Relationship Type="http://schemas.openxmlformats.org/officeDocument/2006/relationships/notesSlide" Target="/ppt/notesSlides/notesSlide4.xml" Id="Rba7c746b0be545f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识别度</c:v>
          </c:tx>
          <c:spPr>
            <a:solidFill xmlns:a="http://schemas.openxmlformats.org/drawingml/2006/main">
              <a:srgbClr val="D9FF5B"/>
            </a:solidFill>
            <a:ln xmlns:a="http://schemas.openxmlformats.org/drawingml/2006/main" w="38100">
              <a:solidFill>
                <a:srgbClr val="D9FF5B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结构</c:v>
              </c:pt>
              <c:pt idx="1">
                <c:v>视觉</c:v>
              </c:pt>
              <c:pt idx="2">
                <c:v>数据</c:v>
              </c:pt>
              <c:pt idx="3">
                <c:v>交付</c:v>
              </c:pt>
            </c:strLit>
          </c:cat>
          <c:val>
            <c:numLit>
              <c:formatCode>General</c:formatCode>
              <c:ptCount val="4"/>
              <c:pt idx="0">
                <c:v>54</c:v>
              </c:pt>
              <c:pt idx="1">
                <c:v>68</c:v>
              </c:pt>
              <c:pt idx="2">
                <c:v>84</c:v>
              </c:pt>
              <c:pt idx="3">
                <c:v>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AFAF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5454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7AAA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5353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7AAA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11111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111111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18c4f01d041cb"/>
          <a:srcRect xmlns:a="http://schemas.openxmlformats.org/drawingml/2006/main" l="0" t="33889" r="0" b="33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209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EFD85-FC82-4E25-B663-8625CDE9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AE8EF-1809-4A19-B3D4-34DA4A37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DBAD6-8BD7-4110-8EF4-0EF39F9B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Transforming evidence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into executive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E0C0B-35DE-4D79-8057-5CECB124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ABCD2-39D1-4DC9-8D88-082DCB23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193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76014-0307-48EA-850F-665345AC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8001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6150" b="1">
                <a:solidFill>
                  <a:srgbClr val="111111"/>
                </a:solidFill>
              </a:defRPr>
            </a:pPr>
            <a:r>
              <a:rPr sz="6150" b="1">
                <a:solidFill>
                  <a:srgbClr val="111111"/>
                </a:solidFill>
              </a:rPr>
              <a:t>CONSULTING</a:t>
            </a:r>
          </a:p>
          <a:p xmlns:a="http://schemas.openxmlformats.org/drawingml/2006/main">
            <a:pPr algn="l">
              <a:lnSpc>
                <a:spcPct val="80000"/>
              </a:lnSpc>
              <a:buNone/>
              <a:defRPr sz="6150" b="1">
                <a:solidFill>
                  <a:srgbClr val="111111"/>
                </a:solidFill>
              </a:defRPr>
            </a:pPr>
            <a:r>
              <a:rPr sz="6150" b="1">
                <a:solidFill>
                  <a:srgbClr val="111111"/>
                </a:solidFill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38328-D824-4639-9316-AC0DF518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66862"/>
                </a:solidFill>
              </a:defRPr>
            </a:pPr>
            <a:r>
              <a:rPr sz="825" b="1">
                <a:solidFill>
                  <a:srgbClr val="666862"/>
                </a:solidFill>
              </a:rPr>
              <a:t>STYLE 02 / DIRECTION 2+5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D0ECA-4851-4AB8-B3EC-1A2DF93A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958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现代高管报告为主</a:t>
            </a:r>
          </a:p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黑白未来主义为辅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06E24-B1BE-4639-A76F-134E8FBC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305550"/>
            <a:ext cx="2686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666862"/>
                </a:solidFill>
              </a:defRPr>
            </a:pPr>
            <a:r>
              <a:rPr sz="675" b="0">
                <a:solidFill>
                  <a:srgbClr val="666862"/>
                </a:solidFill>
              </a:rPr>
              <a:t>Photo: Vitaly Gariev / Unsplash</a:t>
            </a:r>
          </a:p>
        </p:txBody>
      </p:sp>
    </p:spTree>
    <p:extLst>
      <p:ext uri="{BB962C8B-B14F-4D97-AF65-F5344CB8AC3E}">
        <p14:creationId xmlns:p14="http://schemas.microsoft.com/office/powerpoint/2010/main" val="1980341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8D2B1-A714-405A-93E5-A44F699D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111111"/>
                </a:solidFill>
              </a:defRPr>
            </a:pPr>
            <a:r>
              <a:rPr sz="675" b="1">
                <a:solidFill>
                  <a:srgbClr val="111111"/>
                </a:solidFill>
              </a:rPr>
              <a:t>LIULEI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D2E9F-E849-4F54-A0A9-9A414A98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666862"/>
                </a:solidFill>
              </a:defRPr>
            </a:pPr>
            <a:r>
              <a:rPr sz="675" b="0">
                <a:solidFill>
                  <a:srgbClr val="666862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AD1A3-9BFE-4771-9E9C-1AFD8AA4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666862"/>
                </a:solidFill>
              </a:defRPr>
            </a:pPr>
            <a:r>
              <a:rPr sz="675" b="1">
                <a:solidFill>
                  <a:srgbClr val="66686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2DC4C-D612-4268-BF13-F84A8DF9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76300"/>
            <a:ext cx="3714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7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AB189-8E5A-417F-B325-429ACF9E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104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81650-4FAD-4B07-A06E-B03684A1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04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问题不在工具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BF176-D39E-491A-B7DB-97A1A6E4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6862"/>
                </a:solidFill>
              </a:defRPr>
            </a:pPr>
            <a:r>
              <a:rPr sz="900" b="0">
                <a:solidFill>
                  <a:srgbClr val="666862"/>
                </a:solidFill>
              </a:rPr>
              <a:t>返工主要发生在结论和结构仍在变化时。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69EBA-19E5-4D68-B99A-6F08D029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76300"/>
            <a:ext cx="3714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7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22B7A-5E45-4206-81AA-703FFC1C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1049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5C8CB-C0EA-4E65-8DE0-12FA6841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04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先锁定逻辑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40F97-07FD-4E00-84A2-EA7FBC9E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859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6862"/>
                </a:solidFill>
              </a:defRPr>
            </a:pPr>
            <a:r>
              <a:rPr sz="900" b="0">
                <a:solidFill>
                  <a:srgbClr val="666862"/>
                </a:solidFill>
              </a:rPr>
              <a:t>先确认页面任务，再投入图片、图表和版式。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A3F00-7A45-42D6-9E31-E4A276AE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D5C8D-6C89-455F-B6FC-6DC494A5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6AC4B-A1CF-40A7-9311-15570F9A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CB9A5-8525-42BE-A632-92584CE5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8763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6300" b="1">
                <a:solidFill>
                  <a:srgbClr val="111111"/>
                </a:solidFill>
              </a:defRPr>
            </a:pPr>
            <a:r>
              <a:rPr sz="6300" b="1">
                <a:solidFill>
                  <a:srgbClr val="111111"/>
                </a:solidFill>
              </a:rPr>
              <a:t>EXECUTIVE</a:t>
            </a:r>
          </a:p>
          <a:p xmlns:a="http://schemas.openxmlformats.org/drawingml/2006/main">
            <a:pPr algn="l">
              <a:lnSpc>
                <a:spcPct val="80000"/>
              </a:lnSpc>
              <a:buNone/>
              <a:defRPr sz="6300" b="1">
                <a:solidFill>
                  <a:srgbClr val="111111"/>
                </a:solidFill>
              </a:defRPr>
            </a:pPr>
            <a:r>
              <a:rPr sz="6300" b="1">
                <a:solidFill>
                  <a:srgbClr val="111111"/>
                </a:solidFill>
              </a:rPr>
              <a:t>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EA7AE-9134-47D1-A495-81FF0336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结论先行</a:t>
            </a:r>
          </a:p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证据支撑</a:t>
            </a:r>
          </a:p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行动闭环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304D8-7FFB-4963-AB3B-B9D2B30D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578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BF54A-A2A9-48A6-83D9-B9C05404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5245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一页只保留一个判断，</a:t>
            </a:r>
          </a:p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每个判断都能回到证据。</a:t>
            </a:r>
          </a:p>
        </p:txBody>
      </p:sp>
    </p:spTree>
    <p:extLst>
      <p:ext uri="{BB962C8B-B14F-4D97-AF65-F5344CB8AC3E}">
        <p14:creationId xmlns:p14="http://schemas.microsoft.com/office/powerpoint/2010/main" val="681983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782FB-C38C-4315-9B81-64C78DC1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AFAF7"/>
                </a:solidFill>
              </a:defRPr>
            </a:pPr>
            <a:r>
              <a:rPr sz="675" b="1">
                <a:solidFill>
                  <a:srgbClr val="FAFAF7"/>
                </a:solidFill>
              </a:rPr>
              <a:t>LIULEI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3654A-3B42-4409-9A09-C9E62211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A7AAA5"/>
                </a:solidFill>
              </a:defRPr>
            </a:pPr>
            <a:r>
              <a:rPr sz="675" b="0">
                <a:solidFill>
                  <a:srgbClr val="A7AAA5"/>
                </a:solidFill>
              </a:rPr>
              <a:t>PERFORMANCE SNAPSHOT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045FE-8B1E-47F5-B1F5-C8147867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A7AAA5"/>
                </a:solidFill>
              </a:defRPr>
            </a:pPr>
            <a:r>
              <a:rPr sz="675" b="1">
                <a:solidFill>
                  <a:srgbClr val="A7AAA5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65F8A-01F4-4EA1-B003-55AE9BB5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342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7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105D4-E65D-4A38-BE3A-EA2593AF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42%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0C53A-C250-496C-A503-D09CD4D6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返工发生在结构确认前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EFAA6-E7B0-43FA-AC6C-55AC83FF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781050"/>
            <a:ext cx="342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7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F2329-0FAF-4956-BD3F-B689DDE6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9906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2.3×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10A25-AD77-4B95-AF0A-1F905D3E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先设计后确认的迭代倍数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0B117-1856-4A65-8F47-511A644C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81050"/>
            <a:ext cx="342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D9F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A7F89-6517-4C2B-8761-793AF2B6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9906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76%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B7E37-5B8C-49AD-80B4-68284F66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问题可在大纲阶段提前暴露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33400" y="2609850"/>
          <a:ext xmlns:a="http://schemas.openxmlformats.org/drawingml/2006/main" cx="6858000" cy="2343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13ae5964984a8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CAD1A-4776-4EF4-A0BF-B689301D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62250"/>
            <a:ext cx="3714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4350" b="1">
                <a:solidFill>
                  <a:srgbClr val="FAFAF7"/>
                </a:solidFill>
              </a:defRPr>
            </a:pPr>
            <a:r>
              <a:rPr sz="4350" b="1">
                <a:solidFill>
                  <a:srgbClr val="FAFAF7"/>
                </a:solidFill>
              </a:rPr>
              <a:t>A YEAR IN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4350" b="1">
                <a:solidFill>
                  <a:srgbClr val="FAFAF7"/>
                </a:solidFill>
              </a:defRPr>
            </a:pPr>
            <a:r>
              <a:rPr sz="4350" b="1">
                <a:solidFill>
                  <a:srgbClr val="FAFAF7"/>
                </a:solidFill>
              </a:rPr>
              <a:t>NUMBERS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4E806-2D6B-4262-B821-892EC3FA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05350"/>
            <a:ext cx="365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32B38-4370-4FBB-89DE-EDE3D191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48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0">
                <a:solidFill>
                  <a:srgbClr val="A7AAA5"/>
                </a:solidFill>
              </a:defRPr>
            </a:pPr>
            <a:r>
              <a:rPr sz="975" b="0">
                <a:solidFill>
                  <a:srgbClr val="A7AAA5"/>
                </a:solidFill>
              </a:rPr>
              <a:t>示意数据，仅用于展示视觉方向。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975" b="0">
                <a:solidFill>
                  <a:srgbClr val="A7AAA5"/>
                </a:solidFill>
              </a:defRPr>
            </a:pPr>
            <a:r>
              <a:rPr sz="975" b="0">
                <a:solidFill>
                  <a:srgbClr val="A7AAA5"/>
                </a:solidFill>
              </a:rPr>
              <a:t>正式生成时必须使用真实来源。</a:t>
            </a:r>
          </a:p>
        </p:txBody>
      </p:sp>
    </p:spTree>
    <p:extLst>
      <p:ext uri="{BB962C8B-B14F-4D97-AF65-F5344CB8AC3E}">
        <p14:creationId xmlns:p14="http://schemas.microsoft.com/office/powerpoint/2010/main" val="861648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9893AC-95B9-41A7-AE39-3E10BD4B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111111"/>
                </a:solidFill>
              </a:defRPr>
            </a:pPr>
            <a:r>
              <a:rPr sz="675" b="1">
                <a:solidFill>
                  <a:srgbClr val="111111"/>
                </a:solidFill>
              </a:rPr>
              <a:t>LIULEI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0B704-3B14-4832-862F-92C5558E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666862"/>
                </a:solidFill>
              </a:defRPr>
            </a:pPr>
            <a:r>
              <a:rPr sz="675" b="0">
                <a:solidFill>
                  <a:srgbClr val="666862"/>
                </a:solidFill>
              </a:rPr>
              <a:t>ACTION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13999-5127-4863-87D0-26E2E22E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666862"/>
                </a:solidFill>
              </a:defRPr>
            </a:pPr>
            <a:r>
              <a:rPr sz="675" b="1">
                <a:solidFill>
                  <a:srgbClr val="66686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C4D0C-1AD1-4AB9-94B0-EDDDB60C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先收敛判断，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再逐步放大投入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F4E07-7F09-4A00-A224-574B7265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52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NEXT 90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0918E-C029-4E14-BF71-EF2B0D7D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E5835-EDB9-40BF-816B-DB473DEE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28825"/>
            <a:ext cx="2571750" cy="2571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CD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C35EE-E331-4918-AAD2-CBB29E4A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1905000" cy="190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CD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6CEC4-B815-4DF7-ACE4-83ABB7ED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86050"/>
            <a:ext cx="1257300" cy="1257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CD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A69B5-CA0D-4BFF-9FE7-95844546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147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D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39D63-A8A7-4C4B-9FEE-70E1EDC9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D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CCA3F-26EE-418C-B2A3-C862C320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76550"/>
            <a:ext cx="62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D1E4D-F12A-4A82-AFBC-2E547FAD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2C54F-FEDA-4518-91A1-F928412E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669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111111"/>
                </a:solidFill>
              </a:defRPr>
            </a:pPr>
            <a:r>
              <a:rPr sz="75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DF193-FA6A-4871-A591-5AA74292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1B975-F043-420F-A7F1-E6AEACE8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90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6862"/>
                </a:solidFill>
              </a:defRPr>
            </a:pPr>
            <a:r>
              <a:rPr sz="825" b="0">
                <a:solidFill>
                  <a:srgbClr val="666862"/>
                </a:solidFill>
              </a:rPr>
              <a:t>核心判断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390DA-B81A-40DE-B0CB-5DA5D0EF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24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35DB6-4710-4C2E-BC3B-2D496D71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669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AFAF7"/>
                </a:solidFill>
              </a:defRPr>
            </a:pPr>
            <a:r>
              <a:rPr sz="750" b="1">
                <a:solidFill>
                  <a:srgbClr val="FAFAF7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464CE-CCCF-4685-8960-83D2091E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结构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FA4EB-FB68-4E77-A43B-B3A90052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6862"/>
                </a:solidFill>
              </a:defRPr>
            </a:pPr>
            <a:r>
              <a:rPr sz="825" b="0">
                <a:solidFill>
                  <a:srgbClr val="666862"/>
                </a:solidFill>
              </a:rPr>
              <a:t>逐页大纲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80A48-C6A2-4BA6-BD95-D59B6563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F5D7D-41A2-4FB5-A220-307FB5C4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05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AFAF7"/>
                </a:solidFill>
              </a:defRPr>
            </a:pPr>
            <a:r>
              <a:rPr sz="750" b="1">
                <a:solidFill>
                  <a:srgbClr val="FAFAF7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D6A4FA-7300-4A73-B6B8-8AFD65CB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15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视觉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3BCA8-E813-4747-A8BF-289C7EF0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29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6862"/>
                </a:solidFill>
              </a:defRPr>
            </a:pPr>
            <a:r>
              <a:rPr sz="825" b="0">
                <a:solidFill>
                  <a:srgbClr val="666862"/>
                </a:solidFill>
              </a:rPr>
              <a:t>样板确认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40B80-0D9D-465F-8B0D-2DD1B846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62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367768-4B2A-40A3-8D94-4D18BBC5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05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AFAF7"/>
                </a:solidFill>
              </a:defRPr>
            </a:pPr>
            <a:r>
              <a:rPr sz="750" b="1">
                <a:solidFill>
                  <a:srgbClr val="FAFAF7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439EE-253F-4834-A080-EC2B484D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815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B7AC48-D97C-4DD6-9526-B489A79B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29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6862"/>
                </a:solidFill>
              </a:defRPr>
            </a:pPr>
            <a:r>
              <a:rPr sz="825" b="0">
                <a:solidFill>
                  <a:srgbClr val="666862"/>
                </a:solidFill>
              </a:rPr>
              <a:t>交付检查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C9BFA8-6BEB-4941-AE0D-70273D6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66862"/>
                </a:solidFill>
              </a:defRPr>
            </a:pPr>
            <a:r>
              <a:rPr sz="1050" b="0">
                <a:solidFill>
                  <a:srgbClr val="666862"/>
                </a:solidFill>
              </a:rPr>
              <a:t>先用低成本决策锁定方向，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66862"/>
                </a:solidFill>
              </a:defRPr>
            </a:pPr>
            <a:r>
              <a:rPr sz="1050" b="0">
                <a:solidFill>
                  <a:srgbClr val="666862"/>
                </a:solidFill>
              </a:rPr>
              <a:t>再逐步进入高成本视觉制作。</a:t>
            </a:r>
          </a:p>
        </p:txBody>
      </p:sp>
    </p:spTree>
    <p:extLst>
      <p:ext uri="{BB962C8B-B14F-4D97-AF65-F5344CB8AC3E}">
        <p14:creationId xmlns:p14="http://schemas.microsoft.com/office/powerpoint/2010/main" val="1861843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2026-07-23T15:44:18.1860000Z</dcterms:created>
  <dcterms:modified xsi:type="dcterms:W3CDTF">2026-07-23T15:44:18.1860000Z</dcterms:modified>
</coreProperties>
</file>