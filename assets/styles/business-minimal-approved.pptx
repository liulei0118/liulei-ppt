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0189d609854760" /><Relationship Type="http://schemas.openxmlformats.org/officeDocument/2006/relationships/extended-properties" Target="/docProps/app.xml" Id="R3abe370f2c1f4e94" /><Relationship Type="http://schemas.openxmlformats.org/officeDocument/2006/relationships/officeDocument" Target="/ppt/presentation.xml" Id="R4e9ed806327e43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8ac87ce1c8440a"/>
  </p:sldMasterIdLst>
  <p:notesMasterIdLst>
    <p:notesMasterId xmlns:r="http://schemas.openxmlformats.org/officeDocument/2006/relationships" r:id="Rb760d2f6312342b6"/>
  </p:notesMasterIdLst>
  <p:sldIdLst>
    <p:sldId xmlns:r="http://schemas.openxmlformats.org/officeDocument/2006/relationships" id="256" r:id="R8089eb121c1f46db"/>
    <p:sldId xmlns:r="http://schemas.openxmlformats.org/officeDocument/2006/relationships" id="257" r:id="Re7abbfa110a44473"/>
    <p:sldId xmlns:r="http://schemas.openxmlformats.org/officeDocument/2006/relationships" id="258" r:id="R3182c37f805d46b9"/>
    <p:sldId xmlns:r="http://schemas.openxmlformats.org/officeDocument/2006/relationships" id="259" r:id="R8512169a612246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8ea1a0390349a5" /><Relationship Type="http://schemas.openxmlformats.org/officeDocument/2006/relationships/slideMaster" Target="/ppt/slideMasters/slideMaster1.xml" Id="Rab8ac87ce1c8440a" /><Relationship Type="http://schemas.openxmlformats.org/officeDocument/2006/relationships/notesMaster" Target="/ppt/notesMasters/notesMaster1.xml" Id="Rb760d2f6312342b6" /><Relationship Type="http://schemas.openxmlformats.org/officeDocument/2006/relationships/presProps" Target="/ppt/presProps.xml" Id="R48a1395c3af04f99" /><Relationship Type="http://schemas.openxmlformats.org/officeDocument/2006/relationships/tableStyles" Target="/ppt/tableStyles.xml" Id="R1139f084afa549b6" /><Relationship Type="http://schemas.openxmlformats.org/officeDocument/2006/relationships/slide" Target="/ppt/slides/slide1.xml" Id="R8089eb121c1f46db" /><Relationship Type="http://schemas.openxmlformats.org/officeDocument/2006/relationships/slide" Target="/ppt/slides/slide2.xml" Id="Re7abbfa110a44473" /><Relationship Type="http://schemas.openxmlformats.org/officeDocument/2006/relationships/slide" Target="/ppt/slides/slide3.xml" Id="R3182c37f805d46b9" /><Relationship Type="http://schemas.openxmlformats.org/officeDocument/2006/relationships/slide" Target="/ppt/slides/slide4.xml" Id="R8512169a6122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248b46ac104b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4edac1c9f44f4" /><Relationship Type="http://schemas.openxmlformats.org/officeDocument/2006/relationships/notesMaster" Target="/ppt/notesMasters/notesMaster1.xml" Id="R94baa6b8144f46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4457dd76114864" /><Relationship Type="http://schemas.openxmlformats.org/officeDocument/2006/relationships/notesMaster" Target="/ppt/notesMasters/notesMaster1.xml" Id="R9f088e19718a40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28ce2f6bcf401d" /><Relationship Type="http://schemas.openxmlformats.org/officeDocument/2006/relationships/notesMaster" Target="/ppt/notesMasters/notesMaster1.xml" Id="R1162056e278b43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4acad2c78b4a42" /><Relationship Type="http://schemas.openxmlformats.org/officeDocument/2006/relationships/notesMaster" Target="/ppt/notesMasters/notesMaster1.xml" Id="R408ba3dc7d7e46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c798f5d2941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f8dc6daa84430f" /><Relationship Type="http://schemas.openxmlformats.org/officeDocument/2006/relationships/slideLayout" Target="/ppt/slideLayouts/slideLayout1.xml" Id="Rbe67d44a1e4e4a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67d44a1e4e4a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8b68a449d4500" /><Relationship Type="http://schemas.openxmlformats.org/officeDocument/2006/relationships/notesSlide" Target="/ppt/notesSlides/notesSlide1.xml" Id="R341a8ed4f2084a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a74713cb947fa" /><Relationship Type="http://schemas.openxmlformats.org/officeDocument/2006/relationships/notesSlide" Target="/ppt/notesSlides/notesSlide2.xml" Id="R915b885ddc9448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426c8069a4cce" /><Relationship Type="http://schemas.openxmlformats.org/officeDocument/2006/relationships/chart" Target="/ppt/slides/charts/chart1.xml" Id="R197111a10db047a8" /><Relationship Type="http://schemas.openxmlformats.org/officeDocument/2006/relationships/notesSlide" Target="/ppt/notesSlides/notesSlide3.xml" Id="R1137b99a56974d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0a3402f954149" /><Relationship Type="http://schemas.openxmlformats.org/officeDocument/2006/relationships/image" Target="/ppt/media/image.jpeg" Id="Re39cb363c63549a9" /><Relationship Type="http://schemas.openxmlformats.org/officeDocument/2006/relationships/notesSlide" Target="/ppt/notesSlides/notesSlide4.xml" Id="R3dcd34d3212f492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示意评分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9525">
              <a:solidFill>
                <a:srgbClr val="111111"/>
              </a:solidFill>
              <a:prstDash val="solid"/>
            </a:ln>
          </c:spPr>
          <c:cat>
            <c:strLit>
              <c:ptCount val="4"/>
              <c:pt idx="0">
                <c:v>定位</c:v>
              </c:pt>
              <c:pt idx="1">
                <c:v>层级</c:v>
              </c:pt>
              <c:pt idx="2">
                <c:v>节奏</c:v>
              </c:pt>
              <c:pt idx="3">
                <c:v>编辑</c:v>
              </c:pt>
            </c:strLit>
          </c:cat>
          <c:val>
            <c:numLit>
              <c:formatCode>General</c:formatCode>
              <c:ptCount val="4"/>
              <c:pt idx="0">
                <c:v>62</c:v>
              </c:pt>
              <c:pt idx="1">
                <c:v>78</c:v>
              </c:pt>
              <c:pt idx="2">
                <c:v>86</c:v>
              </c:pt>
              <c:pt idx="3">
                <c:v>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5B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45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C5B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45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D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4F2ED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45BF0-51E8-4C1D-95E0-C9D48E5E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1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E6784-6E21-4DA5-8ACD-CB493EE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40767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5DF6A-BA7E-4D86-89F8-CC625023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40767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911A3-FC1D-456D-AD74-A396251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04A3A"/>
                </a:solidFill>
              </a:defRPr>
            </a:pPr>
            <a:r>
              <a:rPr sz="825" b="1">
                <a:solidFill>
                  <a:srgbClr val="F04A3A"/>
                </a:solidFill>
              </a:rPr>
              <a:t>LIULEI PPT / STYLE STUDY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78E50-3B56-41D5-832C-4053C9AC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BUSINESS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MINIMAL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9FEEA-9F18-48BA-8DB8-E54B9C2A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秩序先于装饰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61815-01DE-481B-9C9B-2AE3A3AA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86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BCC39-7411-436C-A1D2-999E505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645F"/>
                </a:solidFill>
              </a:defRPr>
            </a:pPr>
            <a:r>
              <a:rPr sz="1275" b="0">
                <a:solidFill>
                  <a:srgbClr val="66645F"/>
                </a:solidFill>
              </a:rPr>
              <a:t>瑞士网格 · 非对称留白 · 结论式标题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42A65-257B-49CD-B98F-A7C89328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 b="1">
                <a:solidFill>
                  <a:srgbClr val="F4F2ED"/>
                </a:solidFill>
              </a:defRPr>
            </a:pPr>
            <a:r>
              <a:rPr sz="6000" b="1">
                <a:solidFill>
                  <a:srgbClr val="F4F2E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99FA0-650B-4473-9D24-C1A662D9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3150" b="1">
                <a:solidFill>
                  <a:srgbClr val="F4F2ED"/>
                </a:solidFill>
              </a:defRPr>
            </a:pPr>
            <a:r>
              <a:rPr sz="3150" b="1">
                <a:solidFill>
                  <a:srgbClr val="F4F2ED"/>
                </a:solidFill>
              </a:rPr>
              <a:t>VISUAL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3150" b="1">
                <a:solidFill>
                  <a:srgbClr val="F4F2ED"/>
                </a:solidFill>
              </a:defRPr>
            </a:pPr>
            <a:r>
              <a:rPr sz="3150" b="1">
                <a:solidFill>
                  <a:srgbClr val="F4F2ED"/>
                </a:solidFill>
              </a:rPr>
              <a:t>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5B1A2-F324-4661-8D3E-D00CFE5B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D7D3CB"/>
                </a:solidFill>
              </a:defRPr>
            </a:pPr>
            <a:r>
              <a:rPr sz="1125" b="0">
                <a:solidFill>
                  <a:srgbClr val="D7D3CB"/>
                </a:solidFill>
              </a:rPr>
              <a:t>12-column grid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D7D3CB"/>
                </a:solidFill>
              </a:defRPr>
            </a:pPr>
            <a:r>
              <a:rPr sz="1125" b="0">
                <a:solidFill>
                  <a:srgbClr val="D7D3CB"/>
                </a:solidFill>
              </a:rPr>
              <a:t>Black / Paper / Signal Red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D7D3CB"/>
                </a:solidFill>
              </a:defRPr>
            </a:pPr>
            <a:r>
              <a:rPr sz="1125" b="0">
                <a:solidFill>
                  <a:srgbClr val="D7D3CB"/>
                </a:solidFill>
              </a:rPr>
              <a:t>Typography-led composition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5C798-BC12-42DA-B5AD-0FA2C3E6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F4F2ED"/>
                </a:solidFill>
              </a:defRPr>
            </a:pPr>
            <a:r>
              <a:rPr sz="750" b="1">
                <a:solidFill>
                  <a:srgbClr val="F4F2E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6886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AA8B6-CF2A-4F98-9554-30376D4D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99F66-4BE7-4D66-82F2-1CD44268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5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04A3A"/>
                </a:solidFill>
              </a:defRPr>
            </a:pPr>
            <a:r>
              <a:rPr sz="825" b="1">
                <a:solidFill>
                  <a:srgbClr val="F04A3A"/>
                </a:solidFill>
              </a:rPr>
              <a:t>DESIGN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E700C-E3B8-402B-BC79-3D92EB13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2001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清晰不是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减少信息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33505-A3B8-4468-B41A-C345C524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而是建立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阅读秩序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9E87A-3486-477C-9472-8ABF5285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76E6E-A905-4EE8-84E0-CB0B069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F4F2ED"/>
                </a:solidFill>
              </a:defRPr>
            </a:pPr>
            <a:r>
              <a:rPr sz="2700" b="1">
                <a:solidFill>
                  <a:srgbClr val="F4F2E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C21BC-2655-4C24-8E42-1E10321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645F"/>
                </a:solidFill>
              </a:defRPr>
            </a:pPr>
            <a:r>
              <a:rPr sz="1350" b="0">
                <a:solidFill>
                  <a:srgbClr val="66645F"/>
                </a:solidFill>
              </a:rPr>
              <a:t>一页只建立一个主视觉中心。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645F"/>
                </a:solidFill>
              </a:defRPr>
            </a:pPr>
            <a:r>
              <a:rPr sz="1350" b="0">
                <a:solidFill>
                  <a:srgbClr val="66645F"/>
                </a:solidFill>
              </a:rPr>
              <a:t>所有文字、图表和图片都围绕同一个结论排列。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66267-6A00-4546-B6C6-BEDED4E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66645F"/>
                </a:solidFill>
              </a:defRPr>
            </a:pPr>
            <a:r>
              <a:rPr sz="750" b="1">
                <a:solidFill>
                  <a:srgbClr val="66645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6573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8ED35-3F5E-43CF-A589-0EC1AAA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04A3A"/>
                </a:solidFill>
              </a:defRPr>
            </a:pPr>
            <a:r>
              <a:rPr sz="825" b="1">
                <a:solidFill>
                  <a:srgbClr val="F04A3A"/>
                </a:solidFill>
              </a:rPr>
              <a:t>EVIDENCE / ILLUSTRATIVE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DA37E-93DA-4664-AE66-B1E82CF0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建立视觉秩序后，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关键信息更快被识别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238E5-509B-4A7B-B5CC-907A5EDD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45F"/>
                </a:solidFill>
              </a:defRPr>
            </a:pPr>
            <a:r>
              <a:rPr sz="1050" b="0">
                <a:solidFill>
                  <a:srgbClr val="66645F"/>
                </a:solidFill>
              </a:rPr>
              <a:t>示意评分，仅用于展示图表构图，不代表真实业务结果。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CF59F-37C0-4784-9F9C-73CCE93E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0" b="1">
                <a:solidFill>
                  <a:srgbClr val="F04A3A"/>
                </a:solidFill>
              </a:defRPr>
            </a:pPr>
            <a:r>
              <a:rPr sz="7650" b="1">
                <a:solidFill>
                  <a:srgbClr val="F04A3A"/>
                </a:solidFill>
              </a:rPr>
              <a:t>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B830C-1070-4CDF-9096-77B1C18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最终识别度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B6A63-7E31-4B09-A419-1ED1C6BF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3714750" y="2914650"/>
          <a:ext xmlns:a="http://schemas.openxmlformats.org/drawingml/2006/main" cx="77533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7111a10db047a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EFCD4-0387-4F24-9184-229A54ED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66645F"/>
                </a:solidFill>
              </a:defRPr>
            </a:pPr>
            <a:r>
              <a:rPr sz="750" b="1">
                <a:solidFill>
                  <a:srgbClr val="66645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6587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cb363c63549a9"/>
          <a:srcRect xmlns:a="http://schemas.openxmlformats.org/drawingml/2006/main" l="22250" t="0" r="22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73B58-BAFE-4DF0-B9F2-A39CA453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C688C-84A8-4F7B-845A-D42F9AFB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6E091-4B64-4812-9018-3046F8CE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04A3A"/>
                </a:solidFill>
              </a:defRPr>
            </a:pPr>
            <a:r>
              <a:rPr sz="825" b="1">
                <a:solidFill>
                  <a:srgbClr val="F04A3A"/>
                </a:solidFill>
              </a:rPr>
              <a:t>VISUAL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39406-7222-4C12-9643-874A963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38250"/>
            <a:ext cx="390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600" b="1">
                <a:solidFill>
                  <a:srgbClr val="F4F2ED"/>
                </a:solidFill>
              </a:defRPr>
            </a:pPr>
            <a:r>
              <a:rPr sz="3600" b="1">
                <a:solidFill>
                  <a:srgbClr val="F4F2ED"/>
                </a:solidFill>
              </a:rPr>
              <a:t>让图片承担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00" b="1">
                <a:solidFill>
                  <a:srgbClr val="F4F2ED"/>
                </a:solidFill>
              </a:defRPr>
            </a:pPr>
            <a:r>
              <a:rPr sz="3600" b="1">
                <a:solidFill>
                  <a:srgbClr val="F4F2ED"/>
                </a:solidFill>
              </a:rPr>
              <a:t>结构，而不是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00" b="1">
                <a:solidFill>
                  <a:srgbClr val="F4F2ED"/>
                </a:solidFill>
              </a:defRPr>
            </a:pPr>
            <a:r>
              <a:rPr sz="3600" b="1">
                <a:solidFill>
                  <a:srgbClr val="F4F2ED"/>
                </a:solidFill>
              </a:rPr>
              <a:t>填补空白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F9C03-4F25-4600-BCB9-405BF6B9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EEF1E-859D-4E17-AA93-BE5A2128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CFCBC3"/>
                </a:solidFill>
              </a:defRPr>
            </a:pPr>
            <a:r>
              <a:rPr sz="1275" b="0">
                <a:solidFill>
                  <a:srgbClr val="CFCBC3"/>
                </a:solidFill>
              </a:rPr>
              <a:t>大幅裁切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CFCBC3"/>
                </a:solidFill>
              </a:defRPr>
            </a:pPr>
            <a:r>
              <a:rPr sz="1275" b="0">
                <a:solidFill>
                  <a:srgbClr val="CFCBC3"/>
                </a:solidFill>
              </a:rPr>
              <a:t>高对比黑白影像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CFCBC3"/>
                </a:solidFill>
              </a:defRPr>
            </a:pPr>
            <a:r>
              <a:rPr sz="1275" b="0">
                <a:solidFill>
                  <a:srgbClr val="CFCBC3"/>
                </a:solidFill>
              </a:rPr>
              <a:t>严格控制文字数量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2D439-D0AA-49C0-B617-F386310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198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8E8B85"/>
                </a:solidFill>
              </a:defRPr>
            </a:pPr>
            <a:r>
              <a:rPr sz="750" b="0">
                <a:solidFill>
                  <a:srgbClr val="8E8B85"/>
                </a:solidFill>
              </a:rPr>
              <a:t>Photo: Wegner Bosch / Unsplash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4EAD3-8811-4FC4-BB3B-72E6E921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F4F2ED"/>
                </a:solidFill>
              </a:defRPr>
            </a:pPr>
            <a:r>
              <a:rPr sz="750" b="1">
                <a:solidFill>
                  <a:srgbClr val="F4F2E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4173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2026-07-23T15:25:29.9250000Z</dcterms:created>
  <dcterms:modified xsi:type="dcterms:W3CDTF">2026-07-23T15:25:29.9250000Z</dcterms:modified>
</coreProperties>
</file>